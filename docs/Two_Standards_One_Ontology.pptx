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46120" y="1417320"/>
            <a:ext cx="146304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B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0">
                <a:solidFill>
                  <a:srgbClr val="8B93A8"/>
                </a:solidFill>
                <a:latin typeface="Consolas"/>
              </a:rPr>
              <a:t>OMOP CDM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92040" y="1417320"/>
            <a:ext cx="91440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B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0">
                <a:solidFill>
                  <a:srgbClr val="8B93A8"/>
                </a:solidFill>
                <a:latin typeface="Consolas"/>
              </a:rPr>
              <a:t>SULO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417320"/>
            <a:ext cx="146304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B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0">
                <a:solidFill>
                  <a:srgbClr val="8B93A8"/>
                </a:solidFill>
                <a:latin typeface="Consolas"/>
              </a:rPr>
              <a:t>HL7 FHIR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36015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000" b="0" i="0">
                <a:solidFill>
                  <a:srgbClr val="EAEDF3"/>
                </a:solidFill>
                <a:latin typeface="Georgia"/>
              </a:rPr>
              <a:t>Two standards, one ontology underneath.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2304" y="324612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8B93A8"/>
                </a:solidFill>
                <a:latin typeface="Calibri"/>
              </a:rPr>
              <a:t>How OMOP CDM and HL7 FHIR are made to agree — structurally, not just by convention — using a shared upper ontology, compiled SPARQL queries, and a real ShEx validator.</a:t>
            </a:r>
          </a:p>
        </p:txBody>
      </p:sp>
      <p:sp>
        <p:nvSpPr>
          <p:cNvPr id="8" name="Oval 7"/>
          <p:cNvSpPr/>
          <p:nvPr/>
        </p:nvSpPr>
        <p:spPr>
          <a:xfrm>
            <a:off x="4480560" y="4846320"/>
            <a:ext cx="822960" cy="822960"/>
          </a:xfrm>
          <a:prstGeom prst="ellipse">
            <a:avLst/>
          </a:prstGeom>
          <a:solidFill>
            <a:srgbClr val="2C4D54"/>
          </a:solidFill>
          <a:ln w="19050">
            <a:solidFill>
              <a:srgbClr val="52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52B8C4"/>
                </a:solidFill>
                <a:latin typeface="Consolas"/>
              </a:rPr>
              <a:t>OMOP</a:t>
            </a:r>
          </a:p>
        </p:txBody>
      </p:sp>
      <p:sp>
        <p:nvSpPr>
          <p:cNvPr id="9" name="Oval 8"/>
          <p:cNvSpPr/>
          <p:nvPr/>
        </p:nvSpPr>
        <p:spPr>
          <a:xfrm>
            <a:off x="5486400" y="4709160"/>
            <a:ext cx="1005840" cy="1005840"/>
          </a:xfrm>
          <a:prstGeom prst="ellipse">
            <a:avLst/>
          </a:prstGeom>
          <a:solidFill>
            <a:srgbClr val="4A3D24"/>
          </a:solidFill>
          <a:ln w="21590">
            <a:solidFill>
              <a:srgbClr val="E3A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E3AC5E"/>
                </a:solidFill>
                <a:latin typeface="Consolas"/>
              </a:rPr>
              <a:t>SULO</a:t>
            </a:r>
          </a:p>
        </p:txBody>
      </p:sp>
      <p:sp>
        <p:nvSpPr>
          <p:cNvPr id="10" name="Oval 9"/>
          <p:cNvSpPr/>
          <p:nvPr/>
        </p:nvSpPr>
        <p:spPr>
          <a:xfrm>
            <a:off x="6720840" y="4846320"/>
            <a:ext cx="822960" cy="822960"/>
          </a:xfrm>
          <a:prstGeom prst="ellipse">
            <a:avLst/>
          </a:prstGeom>
          <a:solidFill>
            <a:srgbClr val="533029"/>
          </a:solidFill>
          <a:ln w="19050">
            <a:solidFill>
              <a:srgbClr val="E86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E8674F"/>
                </a:solidFill>
                <a:latin typeface="Consolas"/>
              </a:rPr>
              <a:t>FHIR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5303520" y="5166360"/>
            <a:ext cx="182880" cy="91440"/>
          </a:xfrm>
          <a:prstGeom prst="line">
            <a:avLst/>
          </a:prstGeom>
          <a:ln w="16510">
            <a:solidFill>
              <a:srgbClr val="52B8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492240" y="5166360"/>
            <a:ext cx="228600" cy="91440"/>
          </a:xfrm>
          <a:prstGeom prst="line">
            <a:avLst/>
          </a:prstGeom>
          <a:ln w="16510">
            <a:solidFill>
              <a:srgbClr val="E867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5B6278"/>
                </a:solidFill>
                <a:latin typeface="Consolas"/>
              </a:rPr>
              <a:t>01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5120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EAEDF3"/>
                </a:solidFill>
                <a:latin typeface="Georgia"/>
              </a:rPr>
              <a:t>The same fact,
encoded twice.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 i="0">
                <a:solidFill>
                  <a:srgbClr val="8B93A8"/>
                </a:solidFill>
                <a:latin typeface="Calibri"/>
              </a:rPr>
              <a:t>OMOP's Measurement.value_as_number and FHIR's Observation.valueQuantity.value can describe the exact same clinical reading — same patient, same instant, same number.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 i="0">
                <a:solidFill>
                  <a:srgbClr val="8B93A8"/>
                </a:solidFill>
                <a:latin typeface="Calibri"/>
              </a:rPr>
              <a:t>But the table names differ, the property names differ, and — as this deck will show — sometimes the structural depth differs too. Interoperability tooling has to see past all three.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B6278"/>
                </a:solidFill>
                <a:latin typeface="Consolas"/>
              </a:rPr>
              <a:t>SULO SCHEMA 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B93A8"/>
                </a:solidFill>
                <a:latin typeface="Consolas"/>
              </a:rPr>
              <a:t>02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212080" cy="3931920"/>
          </a:xfrm>
          <a:prstGeom prst="roundRect">
            <a:avLst>
              <a:gd name="adj" fmla="val 6000"/>
            </a:avLst>
          </a:prstGeom>
          <a:solidFill>
            <a:srgbClr val="1A1F2C"/>
          </a:solidFill>
          <a:ln w="12700">
            <a:solidFill>
              <a:srgbClr val="2B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0" y="1600200"/>
            <a:ext cx="2103120" cy="2377440"/>
          </a:xfrm>
          <a:prstGeom prst="roundRect">
            <a:avLst>
              <a:gd name="adj" fmla="val 8000"/>
            </a:avLst>
          </a:prstGeom>
          <a:solidFill>
            <a:srgbClr val="2C4D54"/>
          </a:solidFill>
          <a:ln w="16510">
            <a:solidFill>
              <a:srgbClr val="52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" b="0">
                <a:solidFill>
                  <a:srgbClr val="EAEDF3"/>
                </a:solidFill>
                <a:latin typeface="Consola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7373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52B8C4"/>
                </a:solidFill>
                <a:latin typeface="Consolas"/>
              </a:rPr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19456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B93A8"/>
                </a:solidFill>
                <a:latin typeface="Consolas"/>
              </a:rPr>
              <a:t>measurement_concept_id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578608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EAEDF3"/>
                </a:solidFill>
                <a:latin typeface="Consolas"/>
              </a:rPr>
              <a:t>value_as_number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962656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B93A8"/>
                </a:solidFill>
                <a:latin typeface="Consolas"/>
              </a:rPr>
              <a:t>unit_concept_id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346704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B93A8"/>
                </a:solidFill>
                <a:latin typeface="Consolas"/>
              </a:rPr>
              <a:t>person_id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600200"/>
            <a:ext cx="2103120" cy="2377440"/>
          </a:xfrm>
          <a:prstGeom prst="roundRect">
            <a:avLst>
              <a:gd name="adj" fmla="val 8000"/>
            </a:avLst>
          </a:prstGeom>
          <a:solidFill>
            <a:srgbClr val="533029"/>
          </a:solidFill>
          <a:ln w="16510">
            <a:solidFill>
              <a:srgbClr val="E86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7373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674F"/>
                </a:solidFill>
                <a:latin typeface="Consolas"/>
              </a:rPr>
              <a:t>Observation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19456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B93A8"/>
                </a:solidFill>
                <a:latin typeface="Consolas"/>
              </a:rPr>
              <a:t>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578608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EAEDF3"/>
                </a:solidFill>
                <a:latin typeface="Consolas"/>
              </a:rPr>
              <a:t>valueQuantity.value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62656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B93A8"/>
                </a:solidFill>
                <a:latin typeface="Consolas"/>
              </a:rPr>
              <a:t>subject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346704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B93A8"/>
                </a:solidFill>
                <a:latin typeface="Consolas"/>
              </a:rPr>
              <a:t>effective[x]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86800" y="2578608"/>
            <a:ext cx="457200" cy="0"/>
          </a:xfrm>
          <a:prstGeom prst="line">
            <a:avLst/>
          </a:prstGeom>
          <a:ln w="15240">
            <a:solidFill>
              <a:srgbClr val="5B627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778240" y="2395728"/>
            <a:ext cx="365760" cy="365760"/>
          </a:xfrm>
          <a:prstGeom prst="ellipse">
            <a:avLst/>
          </a:prstGeom>
          <a:solidFill>
            <a:srgbClr val="10131A"/>
          </a:solidFill>
          <a:ln w="12700">
            <a:solidFill>
              <a:srgbClr val="5B62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0">
                <a:solidFill>
                  <a:srgbClr val="5B6278"/>
                </a:solidFill>
                <a:latin typeface="Georgia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34340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1">
                <a:solidFill>
                  <a:srgbClr val="5B6278"/>
                </a:solidFill>
                <a:latin typeface="Calibri"/>
              </a:rPr>
              <a:t>Same real-world value, unrelated field names and record shapes.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3AC5E"/>
                </a:solidFill>
                <a:latin typeface="Consolas"/>
              </a:rPr>
              <a:t>02 · 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5120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EAEDF3"/>
                </a:solidFill>
                <a:latin typeface="Georgia"/>
              </a:rPr>
              <a:t>SULO sits
underneath both.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50292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 i="0">
                <a:solidFill>
                  <a:srgbClr val="8B93A8"/>
                </a:solidFill>
                <a:latin typeface="Calibri"/>
              </a:rPr>
              <a:t>Every class in either schema is declared as one of a small set of SULO categories: Process, Object (incl. SpatialObject), InformationObject, Quality, Role.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 i="0">
                <a:solidFill>
                  <a:srgbClr val="8B93A8"/>
                </a:solidFill>
                <a:latin typeface="Calibri"/>
              </a:rPr>
              <a:t>OMOP's Measurement and FHIR's Observation don't need to share a name — they need to unfold into the same category structure. That shared structure is what actually gets compared.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B6278"/>
                </a:solidFill>
                <a:latin typeface="Consolas"/>
              </a:rPr>
              <a:t>SULO SCHEMA 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B93A8"/>
                </a:solidFill>
                <a:latin typeface="Consolas"/>
              </a:rPr>
              <a:t>03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212080" cy="4206240"/>
          </a:xfrm>
          <a:prstGeom prst="roundRect">
            <a:avLst>
              <a:gd name="adj" fmla="val 6000"/>
            </a:avLst>
          </a:prstGeom>
          <a:solidFill>
            <a:srgbClr val="1A1F2C"/>
          </a:solidFill>
          <a:ln w="12700">
            <a:solidFill>
              <a:srgbClr val="2B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46304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2B8C4"/>
                </a:solidFill>
                <a:latin typeface="Consolas"/>
              </a:rPr>
              <a:t>Measurement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46304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E8674F"/>
                </a:solidFill>
                <a:latin typeface="Consolas"/>
              </a:rPr>
              <a:t>Observation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0" y="1783080"/>
            <a:ext cx="640080" cy="1143000"/>
          </a:xfrm>
          <a:prstGeom prst="line">
            <a:avLst/>
          </a:prstGeom>
          <a:ln w="16510">
            <a:solidFill>
              <a:srgbClr val="52B8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9509760" y="1783080"/>
            <a:ext cx="548639" cy="1143000"/>
          </a:xfrm>
          <a:prstGeom prst="line">
            <a:avLst/>
          </a:prstGeom>
          <a:ln w="16510">
            <a:solidFill>
              <a:srgbClr val="E867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949440" y="2926080"/>
            <a:ext cx="1828800" cy="457200"/>
          </a:xfrm>
          <a:prstGeom prst="roundRect">
            <a:avLst>
              <a:gd name="adj" fmla="val 15000"/>
            </a:avLst>
          </a:prstGeom>
          <a:solidFill>
            <a:srgbClr val="212840"/>
          </a:solidFill>
          <a:ln w="12700">
            <a:solidFill>
              <a:srgbClr val="2B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0">
                <a:solidFill>
                  <a:srgbClr val="EAEDF3"/>
                </a:solidFill>
                <a:latin typeface="Consolas"/>
              </a:rPr>
              <a:t>InformationObject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926080"/>
            <a:ext cx="1828800" cy="457200"/>
          </a:xfrm>
          <a:prstGeom prst="roundRect">
            <a:avLst>
              <a:gd name="adj" fmla="val 15000"/>
            </a:avLst>
          </a:prstGeom>
          <a:solidFill>
            <a:srgbClr val="212840"/>
          </a:solidFill>
          <a:ln w="12700">
            <a:solidFill>
              <a:srgbClr val="2B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0">
                <a:solidFill>
                  <a:srgbClr val="EAEDF3"/>
                </a:solidFill>
                <a:latin typeface="Consolas"/>
              </a:rPr>
              <a:t>Process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63840" y="3383280"/>
            <a:ext cx="914400" cy="685800"/>
          </a:xfrm>
          <a:prstGeom prst="line">
            <a:avLst/>
          </a:prstGeom>
          <a:ln w="12700">
            <a:solidFill>
              <a:srgbClr val="52B8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9189720" y="3383280"/>
            <a:ext cx="685800" cy="685800"/>
          </a:xfrm>
          <a:prstGeom prst="line">
            <a:avLst/>
          </a:prstGeom>
          <a:ln w="12700">
            <a:solidFill>
              <a:srgbClr val="E867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275320" y="4069080"/>
            <a:ext cx="1097280" cy="914400"/>
          </a:xfrm>
          <a:prstGeom prst="ellipse">
            <a:avLst/>
          </a:prstGeom>
          <a:solidFill>
            <a:srgbClr val="4A3D24"/>
          </a:solidFill>
          <a:ln w="21590">
            <a:solidFill>
              <a:srgbClr val="E3A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E3AC5E"/>
                </a:solidFill>
                <a:latin typeface="Consolas"/>
              </a:rPr>
              <a:t>SULO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507492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5B6278"/>
                </a:solidFill>
                <a:latin typeface="Calibri"/>
              </a:rPr>
              <a:t>This pair is where categories genuinely diverge — see slide 12.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3AC5E"/>
                </a:solidFill>
                <a:latin typeface="Consolas"/>
              </a:rPr>
              <a:t>03 ·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EAEDF3"/>
                </a:solidFill>
                <a:latin typeface="Georgia"/>
              </a:rPr>
              <a:t>A property is a small graph, not a name.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 i="0">
                <a:solidFill>
                  <a:srgbClr val="8B93A8"/>
                </a:solidFill>
                <a:latin typeface="Calibri"/>
              </a:rPr>
              <a:t>Every property stores a mapping pattern — a template over ?this, ?value, and intermediate nodes. Only two shapes occur anywhere in this system: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B6278"/>
                </a:solidFill>
                <a:latin typeface="Consolas"/>
              </a:rPr>
              <a:t>SULO SCHEMA 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B93A8"/>
                </a:solidFill>
                <a:latin typeface="Consolas"/>
              </a:rPr>
              <a:t>04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14600"/>
            <a:ext cx="5029200" cy="2377440"/>
          </a:xfrm>
          <a:prstGeom prst="roundRect">
            <a:avLst>
              <a:gd name="adj" fmla="val 6000"/>
            </a:avLst>
          </a:prstGeom>
          <a:solidFill>
            <a:srgbClr val="1A1F2C"/>
          </a:solidFill>
          <a:ln w="12700">
            <a:solidFill>
              <a:srgbClr val="2B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3429000"/>
            <a:ext cx="822960" cy="640080"/>
          </a:xfrm>
          <a:prstGeom prst="ellipse">
            <a:avLst/>
          </a:prstGeom>
          <a:solidFill>
            <a:srgbClr val="212840"/>
          </a:solidFill>
          <a:ln w="12700">
            <a:solidFill>
              <a:srgbClr val="5B62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0">
                <a:solidFill>
                  <a:srgbClr val="EAEDF3"/>
                </a:solidFill>
                <a:latin typeface="Consolas"/>
              </a:rPr>
              <a:t>?this</a:t>
            </a:r>
          </a:p>
        </p:txBody>
      </p:sp>
      <p:sp>
        <p:nvSpPr>
          <p:cNvPr id="10" name="Oval 9"/>
          <p:cNvSpPr/>
          <p:nvPr/>
        </p:nvSpPr>
        <p:spPr>
          <a:xfrm>
            <a:off x="4526280" y="3429000"/>
            <a:ext cx="822960" cy="640080"/>
          </a:xfrm>
          <a:prstGeom prst="ellipse">
            <a:avLst/>
          </a:prstGeom>
          <a:solidFill>
            <a:srgbClr val="212840"/>
          </a:solidFill>
          <a:ln w="12700">
            <a:solidFill>
              <a:srgbClr val="5B62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0">
                <a:solidFill>
                  <a:srgbClr val="EAEDF3"/>
                </a:solidFill>
                <a:latin typeface="Consolas"/>
              </a:rPr>
              <a:t>?value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28800" y="3749040"/>
            <a:ext cx="2697480" cy="0"/>
          </a:xfrm>
          <a:prstGeom prst="line">
            <a:avLst/>
          </a:prstGeom>
          <a:ln w="20320">
            <a:solidFill>
              <a:srgbClr val="E3AC5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423160" y="338328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E3AC5E"/>
                </a:solidFill>
                <a:latin typeface="Consolas"/>
              </a:rPr>
              <a:t>hasFeature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389119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AEDF3"/>
                </a:solidFill>
                <a:latin typeface="Calibri"/>
              </a:rPr>
              <a:t>Direct relation</a:t>
            </a:r>
            <a:r>
              <a:rPr sz="1100" b="0" i="0">
                <a:solidFill>
                  <a:srgbClr val="8B93A8"/>
                </a:solidFill>
                <a:latin typeface="Calibri"/>
              </a:rPr>
              <a:t> — one triple.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2514600"/>
            <a:ext cx="5029200" cy="2377440"/>
          </a:xfrm>
          <a:prstGeom prst="roundRect">
            <a:avLst>
              <a:gd name="adj" fmla="val 6000"/>
            </a:avLst>
          </a:prstGeom>
          <a:solidFill>
            <a:srgbClr val="1A1F2C"/>
          </a:solidFill>
          <a:ln w="12700">
            <a:solidFill>
              <a:srgbClr val="2B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5080" y="3429000"/>
            <a:ext cx="685800" cy="640080"/>
          </a:xfrm>
          <a:prstGeom prst="ellipse">
            <a:avLst/>
          </a:prstGeom>
          <a:solidFill>
            <a:srgbClr val="212840"/>
          </a:solidFill>
          <a:ln w="12700">
            <a:solidFill>
              <a:srgbClr val="5B62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>
                <a:solidFill>
                  <a:srgbClr val="EAEDF3"/>
                </a:solidFill>
                <a:latin typeface="Consolas"/>
              </a:rPr>
              <a:t>?this</a:t>
            </a:r>
          </a:p>
        </p:txBody>
      </p:sp>
      <p:sp>
        <p:nvSpPr>
          <p:cNvPr id="16" name="Oval 15"/>
          <p:cNvSpPr/>
          <p:nvPr/>
        </p:nvSpPr>
        <p:spPr>
          <a:xfrm>
            <a:off x="8138160" y="3291840"/>
            <a:ext cx="914400" cy="914400"/>
          </a:xfrm>
          <a:prstGeom prst="ellipse">
            <a:avLst/>
          </a:prstGeom>
          <a:solidFill>
            <a:srgbClr val="4A3D24"/>
          </a:solidFill>
          <a:ln w="17780">
            <a:solidFill>
              <a:srgbClr val="E3A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00" b="0">
                <a:solidFill>
                  <a:srgbClr val="E3AC5E"/>
                </a:solidFill>
                <a:latin typeface="Consolas"/>
              </a:rPr>
              <a:t>?o1
a Role</a:t>
            </a:r>
          </a:p>
        </p:txBody>
      </p:sp>
      <p:sp>
        <p:nvSpPr>
          <p:cNvPr id="17" name="Oval 16"/>
          <p:cNvSpPr/>
          <p:nvPr/>
        </p:nvSpPr>
        <p:spPr>
          <a:xfrm>
            <a:off x="10104120" y="3429000"/>
            <a:ext cx="685800" cy="640080"/>
          </a:xfrm>
          <a:prstGeom prst="ellipse">
            <a:avLst/>
          </a:prstGeom>
          <a:solidFill>
            <a:srgbClr val="212840"/>
          </a:solidFill>
          <a:ln w="12700">
            <a:solidFill>
              <a:srgbClr val="5B62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>
                <a:solidFill>
                  <a:srgbClr val="EAEDF3"/>
                </a:solidFill>
                <a:latin typeface="Consolas"/>
              </a:rPr>
              <a:t>?value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40880" y="3749040"/>
            <a:ext cx="1097280" cy="0"/>
          </a:xfrm>
          <a:prstGeom prst="line">
            <a:avLst/>
          </a:prstGeom>
          <a:ln w="17780">
            <a:solidFill>
              <a:srgbClr val="E3AC5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052560" y="3749040"/>
            <a:ext cx="1051560" cy="0"/>
          </a:xfrm>
          <a:prstGeom prst="line">
            <a:avLst/>
          </a:prstGeom>
          <a:ln w="17780">
            <a:solidFill>
              <a:srgbClr val="E3AC5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55080" y="4389119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AEDF3"/>
                </a:solidFill>
                <a:latin typeface="Calibri"/>
              </a:rPr>
              <a:t>Single-hop reification</a:t>
            </a:r>
            <a:r>
              <a:rPr sz="1100" b="0" i="0">
                <a:solidFill>
                  <a:srgbClr val="8B93A8"/>
                </a:solidFill>
                <a:latin typeface="Calibri"/>
              </a:rPr>
              <a:t> — three triples via a typed carrier.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3AC5E"/>
                </a:solidFill>
                <a:latin typeface="Consolas"/>
              </a:rPr>
              <a:t>04 ·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5120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EAEDF3"/>
                </a:solidFill>
                <a:latin typeface="Georgia"/>
              </a:rPr>
              <a:t>Matching by shape,
never by name.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5120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 i="0">
                <a:solidFill>
                  <a:srgbClr val="8B93A8"/>
                </a:solidFill>
                <a:latin typeface="Calibri"/>
              </a:rPr>
              <a:t>The shape matcher compares (domain category, predicate pattern, range category) — never the property's own name.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 i="0">
                <a:solidFill>
                  <a:srgbClr val="8B93A8"/>
                </a:solidFill>
                <a:latin typeface="Calibri"/>
              </a:rPr>
              <a:t>condition_start_datetime and hasRecordedDate share nothing lexically. They match anyway, because both unfold to the identical shape: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343400"/>
            <a:ext cx="132588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B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0">
                <a:solidFill>
                  <a:srgbClr val="8B93A8"/>
                </a:solidFill>
                <a:latin typeface="Consolas"/>
              </a:rPr>
              <a:t>Process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74520" y="4343400"/>
            <a:ext cx="310896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B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0">
                <a:solidFill>
                  <a:srgbClr val="8B93A8"/>
                </a:solidFill>
                <a:latin typeface="Consolas"/>
              </a:rPr>
              <a:t>atTime → [TimeInstant] → hasValue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4343400"/>
            <a:ext cx="155448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B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0">
                <a:solidFill>
                  <a:srgbClr val="8B93A8"/>
                </a:solidFill>
                <a:latin typeface="Consolas"/>
              </a:rPr>
              <a:t>xsd:dateTime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B6278"/>
                </a:solidFill>
                <a:latin typeface="Consolas"/>
              </a:rPr>
              <a:t>SULO SCHEMA BUILDER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B93A8"/>
                </a:solidFill>
                <a:latin typeface="Consolas"/>
              </a:rPr>
              <a:t>05 /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80160"/>
            <a:ext cx="5212080" cy="3931920"/>
          </a:xfrm>
          <a:prstGeom prst="roundRect">
            <a:avLst>
              <a:gd name="adj" fmla="val 6000"/>
            </a:avLst>
          </a:prstGeom>
          <a:solidFill>
            <a:srgbClr val="1A1F2C"/>
          </a:solidFill>
          <a:ln w="12700">
            <a:solidFill>
              <a:srgbClr val="2B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6002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2B8C4"/>
                </a:solidFill>
                <a:latin typeface="Consolas"/>
              </a:rPr>
              <a:t>condition_start_datetime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6002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E8674F"/>
                </a:solidFill>
                <a:latin typeface="Consolas"/>
              </a:rPr>
              <a:t>hasRecordedDate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89520" y="2057400"/>
            <a:ext cx="1005840" cy="960120"/>
          </a:xfrm>
          <a:prstGeom prst="line">
            <a:avLst/>
          </a:prstGeom>
          <a:ln w="16510">
            <a:solidFill>
              <a:srgbClr val="52B8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9235440" y="2057400"/>
            <a:ext cx="822959" cy="960120"/>
          </a:xfrm>
          <a:prstGeom prst="line">
            <a:avLst/>
          </a:prstGeom>
          <a:ln w="16510">
            <a:solidFill>
              <a:srgbClr val="E867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589520" y="3017520"/>
            <a:ext cx="2651760" cy="1188720"/>
          </a:xfrm>
          <a:prstGeom prst="roundRect">
            <a:avLst>
              <a:gd name="adj" fmla="val 15000"/>
            </a:avLst>
          </a:prstGeom>
          <a:solidFill>
            <a:srgbClr val="4A3D24"/>
          </a:solidFill>
          <a:ln w="19050">
            <a:solidFill>
              <a:srgbClr val="E3A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E3AC5E"/>
                </a:solidFill>
                <a:latin typeface="Consolas"/>
              </a:rPr>
              <a:t>atTime → [TimeInstant]
→ hasValue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48056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5B6278"/>
                </a:solidFill>
                <a:latin typeface="Calibri"/>
              </a:rPr>
              <a:t>Identical shape ⇒ candidate match, independent of naming.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52B8C4"/>
                </a:solidFill>
                <a:latin typeface="Consolas"/>
              </a:rPr>
              <a:t>PATH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EAEDF3"/>
                </a:solidFill>
                <a:latin typeface="Georgia"/>
              </a:rPr>
              <a:t>The Bridge — OMOP ⇄ FHIR via SPARQL CONSTRUCT.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0" i="0">
                <a:solidFill>
                  <a:srgbClr val="8B93A8"/>
                </a:solidFill>
                <a:latin typeface="Calibri"/>
              </a:rPr>
              <a:t>One compiled query, straight from the source's own flat pattern to the target's own flat pattern. No intermediate graph is ever materialized.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B6278"/>
                </a:solidFill>
                <a:latin typeface="Consolas"/>
              </a:rPr>
              <a:t>SULO SCHEMA 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B93A8"/>
                </a:solidFill>
                <a:latin typeface="Consolas"/>
              </a:rPr>
              <a:t>06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34640"/>
            <a:ext cx="10515600" cy="2286000"/>
          </a:xfrm>
          <a:prstGeom prst="roundRect">
            <a:avLst>
              <a:gd name="adj" fmla="val 6000"/>
            </a:avLst>
          </a:prstGeom>
          <a:solidFill>
            <a:srgbClr val="1A1F2C"/>
          </a:solidFill>
          <a:ln w="12700">
            <a:solidFill>
              <a:srgbClr val="2B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3657600"/>
            <a:ext cx="2103120" cy="822960"/>
          </a:xfrm>
          <a:prstGeom prst="roundRect">
            <a:avLst>
              <a:gd name="adj" fmla="val 12000"/>
            </a:avLst>
          </a:prstGeom>
          <a:solidFill>
            <a:srgbClr val="2C4D54"/>
          </a:solidFill>
          <a:ln w="17780">
            <a:solidFill>
              <a:srgbClr val="52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0">
                <a:solidFill>
                  <a:srgbClr val="52B8C4"/>
                </a:solidFill>
                <a:latin typeface="Consolas"/>
              </a:rPr>
              <a:t>OMOP (flat)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3657600"/>
            <a:ext cx="2103120" cy="822960"/>
          </a:xfrm>
          <a:prstGeom prst="roundRect">
            <a:avLst>
              <a:gd name="adj" fmla="val 12000"/>
            </a:avLst>
          </a:prstGeom>
          <a:solidFill>
            <a:srgbClr val="533029"/>
          </a:solidFill>
          <a:ln w="17780">
            <a:solidFill>
              <a:srgbClr val="E86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0">
                <a:solidFill>
                  <a:srgbClr val="E8674F"/>
                </a:solidFill>
                <a:latin typeface="Consolas"/>
              </a:rPr>
              <a:t>FHIR (flat)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54680" y="4069080"/>
            <a:ext cx="5577840" cy="0"/>
          </a:xfrm>
          <a:prstGeom prst="line">
            <a:avLst/>
          </a:prstGeom>
          <a:ln w="25400">
            <a:solidFill>
              <a:srgbClr val="E3AC5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892040" y="3703320"/>
            <a:ext cx="2103120" cy="777240"/>
          </a:xfrm>
          <a:prstGeom prst="roundRect">
            <a:avLst>
              <a:gd name="adj" fmla="val 15000"/>
            </a:avLst>
          </a:prstGeom>
          <a:solidFill>
            <a:srgbClr val="1A1F2C"/>
          </a:solidFill>
          <a:ln w="16510">
            <a:solidFill>
              <a:srgbClr val="E3A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E3AC5E"/>
                </a:solidFill>
                <a:latin typeface="Consolas"/>
              </a:rPr>
              <a:t>CONSTRUCT
one query, one hop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709159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5B6278"/>
                </a:solidFill>
                <a:latin typeface="Calibri"/>
              </a:rPr>
              <a:t>The WHERE clause matches OMOP's own pattern; CONSTRUCT writes FHIR's own pattern. SULO is the vocabulary, not a stored graph.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52B8C4"/>
                </a:solidFill>
                <a:latin typeface="Consolas"/>
              </a:rPr>
              <a:t>PATH 1 · 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EAEDF3"/>
                </a:solidFill>
                <a:latin typeface="Georgia"/>
              </a:rPr>
              <a:t>One query — and an optional transform.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 i="0">
                <a:solidFill>
                  <a:srgbClr val="8B93A8"/>
                </a:solidFill>
                <a:latin typeface="Calibri"/>
              </a:rPr>
              <a:t>The interactive Mapping Board lets you drag a source chip onto a target row and pick a transform (cast, split, concatenate). It compiles straight to this: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B6278"/>
                </a:solidFill>
                <a:latin typeface="Consolas"/>
              </a:rPr>
              <a:t>SULO SCHEMA 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B93A8"/>
                </a:solidFill>
                <a:latin typeface="Consolas"/>
              </a:rPr>
              <a:t>07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68880"/>
            <a:ext cx="9601200" cy="2651760"/>
          </a:xfrm>
          <a:prstGeom prst="roundRect">
            <a:avLst>
              <a:gd name="adj" fmla="val 4000"/>
            </a:avLst>
          </a:prstGeom>
          <a:solidFill>
            <a:srgbClr val="212840"/>
          </a:solidFill>
          <a:ln w="12700">
            <a:solidFill>
              <a:srgbClr val="2B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E3AC5E"/>
                </a:solidFill>
                <a:latin typeface="Consolas"/>
              </a:rPr>
              <a:t>CONSTRUCT</a:t>
            </a:r>
            <a:r>
              <a:rPr sz="1400">
                <a:solidFill>
                  <a:srgbClr val="EAEDF3"/>
                </a:solidFill>
                <a:latin typeface="Consolas"/>
              </a:rPr>
              <a:t> {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EAEDF3"/>
                </a:solidFill>
                <a:latin typeface="Consolas"/>
              </a:rPr>
              <a:t>  ?this </a:t>
            </a:r>
            <a:r>
              <a:rPr sz="1400">
                <a:solidFill>
                  <a:srgbClr val="E8674F"/>
                </a:solidFill>
                <a:latin typeface="Consolas"/>
              </a:rPr>
              <a:t>fhir:hasRecordedDate</a:t>
            </a:r>
            <a:r>
              <a:rPr sz="1400">
                <a:solidFill>
                  <a:srgbClr val="EAEDF3"/>
                </a:solidFill>
                <a:latin typeface="Consolas"/>
              </a:rPr>
              <a:t> ?transformed .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EAEDF3"/>
                </a:solidFill>
                <a:latin typeface="Consolas"/>
              </a:rPr>
              <a:t>  ?this </a:t>
            </a:r>
            <a:r>
              <a:rPr sz="1400">
                <a:solidFill>
                  <a:srgbClr val="E3AC5E"/>
                </a:solidFill>
                <a:latin typeface="Consolas"/>
              </a:rPr>
              <a:t>a</a:t>
            </a:r>
            <a:r>
              <a:rPr sz="1400">
                <a:solidFill>
                  <a:srgbClr val="EAEDF3"/>
                </a:solidFill>
                <a:latin typeface="Consolas"/>
              </a:rPr>
              <a:t> </a:t>
            </a:r>
            <a:r>
              <a:rPr sz="1400">
                <a:solidFill>
                  <a:srgbClr val="E8674F"/>
                </a:solidFill>
                <a:latin typeface="Consolas"/>
              </a:rPr>
              <a:t>fhir:Condition</a:t>
            </a:r>
            <a:r>
              <a:rPr sz="1400">
                <a:solidFill>
                  <a:srgbClr val="EAEDF3"/>
                </a:solidFill>
                <a:latin typeface="Consolas"/>
              </a:rPr>
              <a:t> .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EAEDF3"/>
                </a:solidFill>
                <a:latin typeface="Consolas"/>
              </a:rPr>
              <a:t>}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E3AC5E"/>
                </a:solidFill>
                <a:latin typeface="Consolas"/>
              </a:rPr>
              <a:t>WHERE</a:t>
            </a:r>
            <a:r>
              <a:rPr sz="1400">
                <a:solidFill>
                  <a:srgbClr val="EAEDF3"/>
                </a:solidFill>
                <a:latin typeface="Consolas"/>
              </a:rPr>
              <a:t> {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EAEDF3"/>
                </a:solidFill>
                <a:latin typeface="Consolas"/>
              </a:rPr>
              <a:t>  ?this </a:t>
            </a:r>
            <a:r>
              <a:rPr sz="1400">
                <a:solidFill>
                  <a:srgbClr val="E3AC5E"/>
                </a:solidFill>
                <a:latin typeface="Consolas"/>
              </a:rPr>
              <a:t>a</a:t>
            </a:r>
            <a:r>
              <a:rPr sz="1400">
                <a:solidFill>
                  <a:srgbClr val="EAEDF3"/>
                </a:solidFill>
                <a:latin typeface="Consolas"/>
              </a:rPr>
              <a:t> </a:t>
            </a:r>
            <a:r>
              <a:rPr sz="1400">
                <a:solidFill>
                  <a:srgbClr val="52B8C4"/>
                </a:solidFill>
                <a:latin typeface="Consolas"/>
              </a:rPr>
              <a:t>omop:ConditionOccurrence</a:t>
            </a:r>
            <a:r>
              <a:rPr sz="1400">
                <a:solidFill>
                  <a:srgbClr val="EAEDF3"/>
                </a:solidFill>
                <a:latin typeface="Consolas"/>
              </a:rPr>
              <a:t> ;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EAEDF3"/>
                </a:solidFill>
                <a:latin typeface="Consolas"/>
              </a:rPr>
              <a:t>        </a:t>
            </a:r>
            <a:r>
              <a:rPr sz="1400">
                <a:solidFill>
                  <a:srgbClr val="52B8C4"/>
                </a:solidFill>
                <a:latin typeface="Consolas"/>
              </a:rPr>
              <a:t>omop:condition_start_datetime</a:t>
            </a:r>
            <a:r>
              <a:rPr sz="1400">
                <a:solidFill>
                  <a:srgbClr val="EAEDF3"/>
                </a:solidFill>
                <a:latin typeface="Consolas"/>
              </a:rPr>
              <a:t> ?value .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E3AC5E"/>
                </a:solidFill>
                <a:latin typeface="Consolas"/>
              </a:rPr>
              <a:t>  BIND</a:t>
            </a:r>
            <a:r>
              <a:rPr sz="1400">
                <a:solidFill>
                  <a:srgbClr val="EAEDF3"/>
                </a:solidFill>
                <a:latin typeface="Consolas"/>
              </a:rPr>
              <a:t>(xsd:dateTime(?value) </a:t>
            </a:r>
            <a:r>
              <a:rPr sz="1400">
                <a:solidFill>
                  <a:srgbClr val="E3AC5E"/>
                </a:solidFill>
                <a:latin typeface="Consolas"/>
              </a:rPr>
              <a:t>AS</a:t>
            </a:r>
            <a:r>
              <a:rPr sz="1400">
                <a:solidFill>
                  <a:srgbClr val="EAEDF3"/>
                </a:solidFill>
                <a:latin typeface="Consolas"/>
              </a:rPr>
              <a:t> ?transformed)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EAEDF3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492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8B93A8"/>
                </a:solidFill>
                <a:latin typeface="Calibri"/>
              </a:rPr>
              <a:t>A cast, split, or concatenate is just one more BIND — the shape-matcher found the pair, the transform reconciles the last mile of literal representation.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52B8C4"/>
                </a:solidFill>
                <a:latin typeface="Consolas"/>
              </a:rPr>
              <a:t>PATH 1 ·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5120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0" i="0">
                <a:solidFill>
                  <a:srgbClr val="EAEDF3"/>
                </a:solidFill>
                <a:latin typeface="Georgia"/>
              </a:rPr>
              <a:t>Fast — but it never proves the middle.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06040"/>
            <a:ext cx="51206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 i="0">
                <a:solidFill>
                  <a:srgbClr val="8B93A8"/>
                </a:solidFill>
                <a:latin typeface="Calibri"/>
              </a:rPr>
              <a:t>Because the Bridge never materializes SULO, it will happily compile a query between two properties whose SULO-level semantics don't actually agree — different reification depth, a different concrete Role subtype underneath.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 i="0">
                <a:solidFill>
                  <a:srgbClr val="8B93A8"/>
                </a:solidFill>
                <a:latin typeface="Calibri"/>
              </a:rPr>
              <a:t>It answers “can I get from A's data to B's shape?” — not “do A and B mean the same structural thing?” Path 2 asks the second question.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B6278"/>
                </a:solidFill>
                <a:latin typeface="Consolas"/>
              </a:rPr>
              <a:t>SULO SCHEMA 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B93A8"/>
                </a:solidFill>
                <a:latin typeface="Consolas"/>
              </a:rPr>
              <a:t>08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03120"/>
            <a:ext cx="5212080" cy="2926080"/>
          </a:xfrm>
          <a:prstGeom prst="roundRect">
            <a:avLst>
              <a:gd name="adj" fmla="val 6000"/>
            </a:avLst>
          </a:prstGeom>
          <a:solidFill>
            <a:srgbClr val="1A1F2C"/>
          </a:solidFill>
          <a:ln w="12700">
            <a:solidFill>
              <a:srgbClr val="2B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0" y="3657600"/>
            <a:ext cx="1645920" cy="685800"/>
          </a:xfrm>
          <a:prstGeom prst="roundRect">
            <a:avLst>
              <a:gd name="adj" fmla="val 15000"/>
            </a:avLst>
          </a:prstGeom>
          <a:solidFill>
            <a:srgbClr val="2C4D54"/>
          </a:solidFill>
          <a:ln w="16510">
            <a:solidFill>
              <a:srgbClr val="52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52B8C4"/>
                </a:solidFill>
                <a:latin typeface="Consolas"/>
              </a:rPr>
              <a:t>OMOP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3657600"/>
            <a:ext cx="1645920" cy="685800"/>
          </a:xfrm>
          <a:prstGeom prst="roundRect">
            <a:avLst>
              <a:gd name="adj" fmla="val 15000"/>
            </a:avLst>
          </a:prstGeom>
          <a:solidFill>
            <a:srgbClr val="533029"/>
          </a:solidFill>
          <a:ln w="16510">
            <a:solidFill>
              <a:srgbClr val="E86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E8674F"/>
                </a:solidFill>
                <a:latin typeface="Consolas"/>
              </a:rPr>
              <a:t>FHIR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611880"/>
            <a:ext cx="1554480" cy="4572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5B62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00" b="0">
                <a:solidFill>
                  <a:srgbClr val="5B6278"/>
                </a:solidFill>
                <a:latin typeface="Consolas"/>
              </a:rPr>
              <a:t>SULO (unverified)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21040" y="3611880"/>
            <a:ext cx="1188720" cy="0"/>
          </a:xfrm>
          <a:prstGeom prst="line">
            <a:avLst/>
          </a:prstGeom>
          <a:ln w="22860">
            <a:solidFill>
              <a:srgbClr val="E3AC5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915400" y="2606040"/>
            <a:ext cx="9144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" b="0" i="0">
                <a:solidFill>
                  <a:srgbClr val="EAEDF3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6974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3AC5E"/>
                </a:solidFill>
                <a:latin typeface="Consolas"/>
              </a:rPr>
              <a:t>bridge — bypasses the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57200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5B6278"/>
                </a:solidFill>
                <a:latin typeface="Calibri"/>
              </a:rPr>
              <a:t>The arc never touches the box it's supposed to route through.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8674F"/>
                </a:solidFill>
                <a:latin typeface="Consolas"/>
              </a:rPr>
              <a:t>PATH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EAEDF3"/>
                </a:solidFill>
                <a:latin typeface="Georgia"/>
              </a:rPr>
              <a:t>FHIR ⇄ SULO ⇄ OMOP — the round trip.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0" i="0">
                <a:solidFill>
                  <a:srgbClr val="8B93A8"/>
                </a:solidFill>
                <a:latin typeface="Calibri"/>
              </a:rPr>
              <a:t>Forward compiles flat → SULO. Reverse compiles SULO → flat. Chaining them across two schemas is a genuine four-hop test of whether the shared graph actually holds.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B6278"/>
                </a:solidFill>
                <a:latin typeface="Consolas"/>
              </a:rPr>
              <a:t>SULO SCHEMA 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B93A8"/>
                </a:solidFill>
                <a:latin typeface="Consolas"/>
              </a:rPr>
              <a:t>09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26080"/>
            <a:ext cx="10515600" cy="2194560"/>
          </a:xfrm>
          <a:prstGeom prst="roundRect">
            <a:avLst>
              <a:gd name="adj" fmla="val 6000"/>
            </a:avLst>
          </a:prstGeom>
          <a:solidFill>
            <a:srgbClr val="1A1F2C"/>
          </a:solidFill>
          <a:ln w="12700">
            <a:solidFill>
              <a:srgbClr val="2B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3703320"/>
            <a:ext cx="1828800" cy="685800"/>
          </a:xfrm>
          <a:prstGeom prst="roundRect">
            <a:avLst>
              <a:gd name="adj" fmla="val 15000"/>
            </a:avLst>
          </a:prstGeom>
          <a:solidFill>
            <a:srgbClr val="2C4D54"/>
          </a:solidFill>
          <a:ln w="16510">
            <a:solidFill>
              <a:srgbClr val="52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52B8C4"/>
                </a:solidFill>
                <a:latin typeface="Consolas"/>
              </a:rPr>
              <a:t>OMOP flat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3703320"/>
            <a:ext cx="1828800" cy="685800"/>
          </a:xfrm>
          <a:prstGeom prst="roundRect">
            <a:avLst>
              <a:gd name="adj" fmla="val 15000"/>
            </a:avLst>
          </a:prstGeom>
          <a:solidFill>
            <a:srgbClr val="4A3D24"/>
          </a:solidFill>
          <a:ln w="16510">
            <a:solidFill>
              <a:srgbClr val="E3A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0">
                <a:solidFill>
                  <a:srgbClr val="E3AC5E"/>
                </a:solidFill>
                <a:latin typeface="Consolas"/>
              </a:rPr>
              <a:t>SULO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3703320"/>
            <a:ext cx="1828800" cy="685800"/>
          </a:xfrm>
          <a:prstGeom prst="roundRect">
            <a:avLst>
              <a:gd name="adj" fmla="val 15000"/>
            </a:avLst>
          </a:prstGeom>
          <a:solidFill>
            <a:srgbClr val="533029"/>
          </a:solidFill>
          <a:ln w="16510">
            <a:solidFill>
              <a:srgbClr val="E86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E8674F"/>
                </a:solidFill>
                <a:latin typeface="Consolas"/>
              </a:rPr>
              <a:t>FHIR flat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88920" y="3931920"/>
            <a:ext cx="2240280" cy="0"/>
          </a:xfrm>
          <a:prstGeom prst="line">
            <a:avLst/>
          </a:prstGeom>
          <a:ln w="20320">
            <a:solidFill>
              <a:srgbClr val="52B8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063240" y="352044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2B8C4"/>
                </a:solidFill>
                <a:latin typeface="Consolas"/>
              </a:rPr>
              <a:t>forward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0" y="4160520"/>
            <a:ext cx="2240280" cy="0"/>
          </a:xfrm>
          <a:prstGeom prst="line">
            <a:avLst/>
          </a:prstGeom>
          <a:ln w="20320">
            <a:solidFill>
              <a:srgbClr val="E867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78040" y="434340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8674F"/>
                </a:solidFill>
                <a:latin typeface="Consolas"/>
              </a:rPr>
              <a:t>reverse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709160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5B6278"/>
                </a:solidFill>
                <a:latin typeface="Calibri"/>
              </a:rPr>
              <a:t>Shown one direction; the check runs the mirrored chain back too — same graph, both ways.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8674F"/>
                </a:solidFill>
                <a:latin typeface="Consolas"/>
              </a:rPr>
              <a:t>PATH 2 · FORMALIZED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5120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EAEDF3"/>
                </a:solidFill>
                <a:latin typeface="Georgia"/>
              </a:rPr>
              <a:t>Checkable,
not asserted.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51206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 i="0">
                <a:solidFill>
                  <a:srgbClr val="8B93A8"/>
                </a:solidFill>
                <a:latin typeface="Calibri"/>
              </a:rPr>
              <a:t>Each property's mapping pattern compiles into a real ShEx shape (shexSpec/shex). A ShapeMap (shexSpec/shape-map) pairs sample data from both schemas against the same shape label.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 i="0">
                <a:solidFill>
                  <a:srgbClr val="8B93A8"/>
                </a:solidFill>
                <a:latin typeface="Calibri"/>
              </a:rPr>
              <a:t>The actual shex-validate tool decides conformance — in both directions — not this project's own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B6278"/>
                </a:solidFill>
                <a:latin typeface="Consolas"/>
              </a:rPr>
              <a:t>SULO SCHEMA 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B93A8"/>
                </a:solidFill>
                <a:latin typeface="Consolas"/>
              </a:rPr>
              <a:t>10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212080" cy="3931920"/>
          </a:xfrm>
          <a:prstGeom prst="roundRect">
            <a:avLst>
              <a:gd name="adj" fmla="val 6000"/>
            </a:avLst>
          </a:prstGeom>
          <a:solidFill>
            <a:srgbClr val="1A1F2C"/>
          </a:solidFill>
          <a:ln w="12700">
            <a:solidFill>
              <a:srgbClr val="2B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0" y="1645920"/>
            <a:ext cx="1280160" cy="1005840"/>
          </a:xfrm>
          <a:prstGeom prst="ellipse">
            <a:avLst/>
          </a:prstGeom>
          <a:solidFill>
            <a:srgbClr val="2C4D54"/>
          </a:solidFill>
          <a:ln w="16510">
            <a:solidFill>
              <a:srgbClr val="52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>
                <a:solidFill>
                  <a:srgbClr val="52B8C4"/>
                </a:solidFill>
                <a:latin typeface="Consolas"/>
              </a:rPr>
              <a:t>omop-this</a:t>
            </a:r>
          </a:p>
        </p:txBody>
      </p:sp>
      <p:sp>
        <p:nvSpPr>
          <p:cNvPr id="10" name="Oval 9"/>
          <p:cNvSpPr/>
          <p:nvPr/>
        </p:nvSpPr>
        <p:spPr>
          <a:xfrm>
            <a:off x="9692640" y="1645920"/>
            <a:ext cx="1280160" cy="1005840"/>
          </a:xfrm>
          <a:prstGeom prst="ellipse">
            <a:avLst/>
          </a:prstGeom>
          <a:solidFill>
            <a:srgbClr val="533029"/>
          </a:solidFill>
          <a:ln w="16510">
            <a:solidFill>
              <a:srgbClr val="E86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>
                <a:solidFill>
                  <a:srgbClr val="E8674F"/>
                </a:solidFill>
                <a:latin typeface="Consolas"/>
              </a:rPr>
              <a:t>fhir-this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80960" y="2651760"/>
            <a:ext cx="1005840" cy="1005840"/>
          </a:xfrm>
          <a:prstGeom prst="line">
            <a:avLst/>
          </a:prstGeom>
          <a:ln w="16510">
            <a:solidFill>
              <a:srgbClr val="52B8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9418320" y="2651760"/>
            <a:ext cx="731520" cy="1005840"/>
          </a:xfrm>
          <a:prstGeom prst="line">
            <a:avLst/>
          </a:prstGeom>
          <a:ln w="16510">
            <a:solidFill>
              <a:srgbClr val="E867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01000" y="3657600"/>
            <a:ext cx="1828800" cy="822960"/>
          </a:xfrm>
          <a:prstGeom prst="roundRect">
            <a:avLst>
              <a:gd name="adj" fmla="val 15000"/>
            </a:avLst>
          </a:prstGeom>
          <a:solidFill>
            <a:srgbClr val="4A3D24"/>
          </a:solidFill>
          <a:ln w="19050">
            <a:solidFill>
              <a:srgbClr val="E3A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E3AC5E"/>
                </a:solidFill>
                <a:latin typeface="Consolas"/>
              </a:rPr>
              <a:t>#Shape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70916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B93A8"/>
                </a:solidFill>
                <a:latin typeface="Consolas"/>
              </a:rPr>
              <a:t>&lt;fhir-this&gt;@&lt;#SourceShape&gt;, &lt;omop-this&gt;@&lt;#TargetShape&gt;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8674F"/>
                </a:solidFill>
                <a:latin typeface="Consolas"/>
              </a:rPr>
              <a:t>PATH 2 · 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EAEDF3"/>
                </a:solidFill>
                <a:latin typeface="Georgia"/>
              </a:rPr>
              <a:t>The validator does the arguing.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B6278"/>
                </a:solidFill>
                <a:latin typeface="Consolas"/>
              </a:rPr>
              <a:t>SULO SCHEMA BUILDER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B93A8"/>
                </a:solidFill>
                <a:latin typeface="Consolas"/>
              </a:rPr>
              <a:t>11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5029200" cy="3840480"/>
          </a:xfrm>
          <a:prstGeom prst="roundRect">
            <a:avLst>
              <a:gd name="adj" fmla="val 4000"/>
            </a:avLst>
          </a:prstGeom>
          <a:solidFill>
            <a:srgbClr val="1A1F2C"/>
          </a:solidFill>
          <a:ln w="15240">
            <a:solidFill>
              <a:srgbClr val="7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7FD39A"/>
                </a:solidFill>
                <a:latin typeface="Consolas"/>
              </a:rPr>
              <a:t>✓ CONFORMANT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AEDF3"/>
                </a:solidFill>
                <a:latin typeface="Consolas"/>
              </a:rPr>
              <a:t>measurement_concept_id ↔ hasCode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54680"/>
            <a:ext cx="43891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8B93A8"/>
                </a:solidFill>
                <a:latin typeface="Calibri"/>
              </a:rPr>
              <a:t>Both unfold to one hasFeature triple. shex-validate returns a ShapeTest for data shaped like either side, checked against the other's shape.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920240"/>
            <a:ext cx="5029200" cy="3840480"/>
          </a:xfrm>
          <a:prstGeom prst="roundRect">
            <a:avLst>
              <a:gd name="adj" fmla="val 4000"/>
            </a:avLst>
          </a:prstGeom>
          <a:solidFill>
            <a:srgbClr val="1A1F2C"/>
          </a:solidFill>
          <a:ln w="15240">
            <a:solidFill>
              <a:srgbClr val="E86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8674F"/>
                </a:solidFill>
                <a:latin typeface="Consolas"/>
              </a:rPr>
              <a:t>✗ NONCONFORMANT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0604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AEDF3"/>
                </a:solidFill>
                <a:latin typeface="Consolas"/>
              </a:rPr>
              <a:t>unit_concept_id ↔ hasUnit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108960"/>
            <a:ext cx="4389120" cy="2286000"/>
          </a:xfrm>
          <a:prstGeom prst="roundRect">
            <a:avLst>
              <a:gd name="adj" fmla="val 4000"/>
            </a:avLst>
          </a:prstGeom>
          <a:solidFill>
            <a:srgbClr val="212840"/>
          </a:solidFill>
          <a:ln w="12700">
            <a:solidFill>
              <a:srgbClr val="2B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lnSpc>
                <a:spcPct val="135000"/>
              </a:lnSpc>
            </a:pPr>
            <a:r>
              <a:rPr sz="1200">
                <a:solidFill>
                  <a:srgbClr val="EAEDF3"/>
                </a:solidFill>
                <a:latin typeface="Consolas"/>
              </a:rPr>
              <a:t>{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9FD8A8"/>
                </a:solidFill>
                <a:latin typeface="Consolas"/>
              </a:rPr>
              <a:t>  "type"</a:t>
            </a:r>
            <a:r>
              <a:rPr sz="1200">
                <a:solidFill>
                  <a:srgbClr val="EAEDF3"/>
                </a:solidFill>
                <a:latin typeface="Consolas"/>
              </a:rPr>
              <a:t>: </a:t>
            </a:r>
            <a:r>
              <a:rPr sz="1200">
                <a:solidFill>
                  <a:srgbClr val="9FD8A8"/>
                </a:solidFill>
                <a:latin typeface="Consolas"/>
              </a:rPr>
              <a:t>"Failure"</a:t>
            </a:r>
            <a:r>
              <a:rPr sz="1200">
                <a:solidFill>
                  <a:srgbClr val="EAEDF3"/>
                </a:solidFill>
                <a:latin typeface="Consolas"/>
              </a:rPr>
              <a:t>,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9FD8A8"/>
                </a:solidFill>
                <a:latin typeface="Consolas"/>
              </a:rPr>
              <a:t>  "errors"</a:t>
            </a:r>
            <a:r>
              <a:rPr sz="1200">
                <a:solidFill>
                  <a:srgbClr val="EAEDF3"/>
                </a:solidFill>
                <a:latin typeface="Consolas"/>
              </a:rPr>
              <a:t>: [{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9FD8A8"/>
                </a:solidFill>
                <a:latin typeface="Consolas"/>
              </a:rPr>
              <a:t>    "type"</a:t>
            </a:r>
            <a:r>
              <a:rPr sz="1200">
                <a:solidFill>
                  <a:srgbClr val="EAEDF3"/>
                </a:solidFill>
                <a:latin typeface="Consolas"/>
              </a:rPr>
              <a:t>: </a:t>
            </a:r>
            <a:r>
              <a:rPr sz="1200">
                <a:solidFill>
                  <a:srgbClr val="9FD8A8"/>
                </a:solidFill>
                <a:latin typeface="Consolas"/>
              </a:rPr>
              <a:t>"MissingProperty"</a:t>
            </a:r>
            <a:r>
              <a:rPr sz="1200">
                <a:solidFill>
                  <a:srgbClr val="EAEDF3"/>
                </a:solidFill>
                <a:latin typeface="Consolas"/>
              </a:rPr>
              <a:t>,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9FD8A8"/>
                </a:solidFill>
                <a:latin typeface="Consolas"/>
              </a:rPr>
              <a:t>    "property"</a:t>
            </a:r>
            <a:r>
              <a:rPr sz="1200">
                <a:solidFill>
                  <a:srgbClr val="EAEDF3"/>
                </a:solidFill>
                <a:latin typeface="Consolas"/>
              </a:rPr>
              <a:t>: </a:t>
            </a:r>
            <a:r>
              <a:rPr sz="1200">
                <a:solidFill>
                  <a:srgbClr val="E3AC5E"/>
                </a:solidFill>
                <a:latin typeface="Consolas"/>
              </a:rPr>
              <a:t>sulo:hasFeature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AEDF3"/>
                </a:solidFill>
                <a:latin typeface="Consolas"/>
              </a:rPr>
              <a:t>  }]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AEDF3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8674F"/>
                </a:solidFill>
                <a:latin typeface="Consolas"/>
              </a:rPr>
              <a:t>PATH 2 · PAYOFF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EAEDF3"/>
                </a:solidFill>
                <a:latin typeface="Georgia"/>
              </a:rPr>
              <a:t>This is how two real bugs were found.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B6278"/>
                </a:solidFill>
                <a:latin typeface="Consolas"/>
              </a:rPr>
              <a:t>SULO SCHEMA BUILDER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B93A8"/>
                </a:solidFill>
                <a:latin typeface="Consolas"/>
              </a:rPr>
              <a:t>12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029200" cy="2468880"/>
          </a:xfrm>
          <a:prstGeom prst="roundRect">
            <a:avLst>
              <a:gd name="adj" fmla="val 4000"/>
            </a:avLst>
          </a:prstGeom>
          <a:solidFill>
            <a:srgbClr val="1A1F2C"/>
          </a:solidFill>
          <a:ln w="15240">
            <a:solidFill>
              <a:srgbClr val="E86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E8674F"/>
                </a:solidFill>
                <a:latin typeface="Consolas"/>
              </a:rPr>
              <a:t>BUG 1 — ROLE IRI MISMATCH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AEDF3"/>
                </a:solidFill>
                <a:latin typeface="Consolas"/>
              </a:rPr>
              <a:t>PatientRole ≠ SubjectOfCareRole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80360"/>
            <a:ext cx="4389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8B93A8"/>
                </a:solidFill>
                <a:latin typeface="Calibri"/>
              </a:rPr>
              <a:t>Same abstract category (Role), different concrete schema-local IRI. The round trip silently dropped the fact — fixed by pointing both at one shared external IRI.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828800"/>
            <a:ext cx="5029200" cy="2468880"/>
          </a:xfrm>
          <a:prstGeom prst="roundRect">
            <a:avLst>
              <a:gd name="adj" fmla="val 4000"/>
            </a:avLst>
          </a:prstGeom>
          <a:solidFill>
            <a:srgbClr val="1A1F2C"/>
          </a:solidFill>
          <a:ln w="15240">
            <a:solidFill>
              <a:srgbClr val="E86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5740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E8674F"/>
                </a:solidFill>
                <a:latin typeface="Consolas"/>
              </a:rPr>
              <a:t>BUG 2 — REIFICATION DEPTH MISMATCH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23160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EAEDF3"/>
                </a:solidFill>
                <a:latin typeface="Consolas"/>
              </a:rPr>
              <a:t>hasValue (1 hop) vs hasFeature→InformationObject (3 hops)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4389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8B93A8"/>
                </a:solidFill>
                <a:latin typeface="Calibri"/>
              </a:rPr>
              <a:t>OMOP's value_as_number took a direct-value shortcut FHIR's hasQuantityValue didn't. Fixed by aligning OMOP to the same carrier pattern.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61772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8B93A8"/>
                </a:solidFill>
                <a:latin typeface="Calibri"/>
              </a:rPr>
              <a:t>Neither bug was visible from either schema in isolation, and the Bridge path would have compiled a query for both regardless — only the round trip through a shared, checked SULO graph surfaced them.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5B6278"/>
                </a:solidFill>
                <a:latin typeface="Consolas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EAEDF3"/>
                </a:solidFill>
                <a:latin typeface="Georgia"/>
              </a:rPr>
              <a:t>Two paths, two jobs.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B6278"/>
                </a:solidFill>
                <a:latin typeface="Consolas"/>
              </a:rPr>
              <a:t>SULO SCHEMA BUILDER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B93A8"/>
                </a:solidFill>
                <a:latin typeface="Consolas"/>
              </a:rPr>
              <a:t>13 /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920240"/>
          <a:ext cx="105156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206240"/>
                <a:gridCol w="4663440"/>
              </a:tblGrid>
              <a:tr h="655320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5B6278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152400" marR="152400" marT="101600" marB="101600" anchor="ctr">
                    <a:solidFill>
                      <a:srgbClr val="21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52B8C4"/>
                          </a:solidFill>
                          <a:latin typeface="Consolas"/>
                        </a:rPr>
                        <a:t>Bridge (SPARQL)</a:t>
                      </a:r>
                    </a:p>
                  </a:txBody>
                  <a:tcPr marL="152400" marR="152400" marT="101600" marB="101600" anchor="ctr">
                    <a:solidFill>
                      <a:srgbClr val="21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E3AC5E"/>
                          </a:solidFill>
                          <a:latin typeface="Consolas"/>
                        </a:rPr>
                        <a:t>SULO + ShEx</a:t>
                      </a:r>
                    </a:p>
                  </a:txBody>
                  <a:tcPr marL="152400" marR="152400" marT="101600" marB="101600" anchor="ctr">
                    <a:solidFill>
                      <a:srgbClr val="212840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EAEDF3"/>
                          </a:solidFill>
                          <a:latin typeface="Calibri"/>
                        </a:rPr>
                        <a:t>Answers</a:t>
                      </a:r>
                    </a:p>
                  </a:txBody>
                  <a:tcPr marL="152400" marR="152400" marT="101600" marB="101600" anchor="ctr">
                    <a:solidFill>
                      <a:srgbClr val="1A1F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8B93A8"/>
                          </a:solidFill>
                          <a:latin typeface="Calibri"/>
                        </a:rPr>
                        <a:t>Can I compile A → B?</a:t>
                      </a:r>
                    </a:p>
                  </a:txBody>
                  <a:tcPr marL="152400" marR="152400" marT="101600" marB="101600" anchor="ctr">
                    <a:solidFill>
                      <a:srgbClr val="1A1F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8B93A8"/>
                          </a:solidFill>
                          <a:latin typeface="Calibri"/>
                        </a:rPr>
                        <a:t>Do A and B mean the same structural thing?</a:t>
                      </a:r>
                    </a:p>
                  </a:txBody>
                  <a:tcPr marL="152400" marR="152400" marT="101600" marB="101600" anchor="ctr">
                    <a:solidFill>
                      <a:srgbClr val="1A1F2C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EAEDF3"/>
                          </a:solidFill>
                          <a:latin typeface="Calibri"/>
                        </a:rPr>
                        <a:t>Speed</a:t>
                      </a:r>
                    </a:p>
                  </a:txBody>
                  <a:tcPr marL="152400" marR="152400" marT="101600" marB="101600" anchor="ctr">
                    <a:solidFill>
                      <a:srgbClr val="1A1F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8B93A8"/>
                          </a:solidFill>
                          <a:latin typeface="Calibri"/>
                        </a:rPr>
                        <a:t>One query, one hop</a:t>
                      </a:r>
                    </a:p>
                  </a:txBody>
                  <a:tcPr marL="152400" marR="152400" marT="101600" marB="101600" anchor="ctr">
                    <a:solidFill>
                      <a:srgbClr val="1A1F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8B93A8"/>
                          </a:solidFill>
                          <a:latin typeface="Calibri"/>
                        </a:rPr>
                        <a:t>Two schemas × two directions</a:t>
                      </a:r>
                    </a:p>
                  </a:txBody>
                  <a:tcPr marL="152400" marR="152400" marT="101600" marB="101600" anchor="ctr">
                    <a:solidFill>
                      <a:srgbClr val="1A1F2C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EAEDF3"/>
                          </a:solidFill>
                          <a:latin typeface="Calibri"/>
                        </a:rPr>
                        <a:t>Scope</a:t>
                      </a:r>
                    </a:p>
                  </a:txBody>
                  <a:tcPr marL="152400" marR="152400" marT="101600" marB="101600" anchor="ctr">
                    <a:solidFill>
                      <a:srgbClr val="1A1F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8B93A8"/>
                          </a:solidFill>
                          <a:latin typeface="Calibri"/>
                        </a:rPr>
                        <a:t>Pairwise, per-pair</a:t>
                      </a:r>
                    </a:p>
                  </a:txBody>
                  <a:tcPr marL="152400" marR="152400" marT="101600" marB="101600" anchor="ctr">
                    <a:solidFill>
                      <a:srgbClr val="1A1F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8B93A8"/>
                          </a:solidFill>
                          <a:latin typeface="Calibri"/>
                        </a:rPr>
                        <a:t>Any schema against a shared, standards-based shape</a:t>
                      </a:r>
                    </a:p>
                  </a:txBody>
                  <a:tcPr marL="152400" marR="152400" marT="101600" marB="101600" anchor="ctr">
                    <a:solidFill>
                      <a:srgbClr val="1A1F2C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EAEDF3"/>
                          </a:solidFill>
                          <a:latin typeface="Calibri"/>
                        </a:rPr>
                        <a:t>Catches</a:t>
                      </a:r>
                    </a:p>
                  </a:txBody>
                  <a:tcPr marL="152400" marR="152400" marT="101600" marB="101600" anchor="ctr">
                    <a:solidFill>
                      <a:srgbClr val="1A1F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8B93A8"/>
                          </a:solidFill>
                          <a:latin typeface="Calibri"/>
                        </a:rPr>
                        <a:t>Missing / renamed fields</a:t>
                      </a:r>
                    </a:p>
                  </a:txBody>
                  <a:tcPr marL="152400" marR="152400" marT="101600" marB="101600" anchor="ctr">
                    <a:solidFill>
                      <a:srgbClr val="1A1F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8B93A8"/>
                          </a:solidFill>
                          <a:latin typeface="Calibri"/>
                        </a:rPr>
                        <a:t>Silent category &amp; reification-depth drift</a:t>
                      </a:r>
                    </a:p>
                  </a:txBody>
                  <a:tcPr marL="152400" marR="152400" marT="101600" marB="101600" anchor="ctr">
                    <a:solidFill>
                      <a:srgbClr val="1A1F2C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EAEDF3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 marL="152400" marR="152400" marT="101600" marB="101600" anchor="ctr">
                    <a:solidFill>
                      <a:srgbClr val="1A1F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8B93A8"/>
                          </a:solidFill>
                          <a:latin typeface="Calibri"/>
                        </a:rPr>
                        <a:t>Production ETL</a:t>
                      </a:r>
                    </a:p>
                  </a:txBody>
                  <a:tcPr marL="152400" marR="152400" marT="101600" marB="101600" anchor="ctr">
                    <a:solidFill>
                      <a:srgbClr val="1A1F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8B93A8"/>
                          </a:solidFill>
                          <a:latin typeface="Calibri"/>
                        </a:rPr>
                        <a:t>Verifying a mapping is actually sound</a:t>
                      </a:r>
                    </a:p>
                  </a:txBody>
                  <a:tcPr marL="152400" marR="152400" marT="101600" marB="101600" anchor="ctr">
                    <a:solidFill>
                      <a:srgbClr val="1A1F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5B6278"/>
                </a:solidFill>
                <a:latin typeface="Consola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EAEDF3"/>
                </a:solidFill>
                <a:latin typeface="Georgia"/>
              </a:rPr>
              <a:t>One source of truth, two routes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B6278"/>
                </a:solidFill>
                <a:latin typeface="Consolas"/>
              </a:rPr>
              <a:t>SULO SCHEMA BUILDER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B93A8"/>
                </a:solidFill>
                <a:latin typeface="Consolas"/>
              </a:rPr>
              <a:t>14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515600" cy="4206240"/>
          </a:xfrm>
          <a:prstGeom prst="roundRect">
            <a:avLst>
              <a:gd name="adj" fmla="val 6000"/>
            </a:avLst>
          </a:prstGeom>
          <a:solidFill>
            <a:srgbClr val="1A1F2C"/>
          </a:solidFill>
          <a:ln w="12700">
            <a:solidFill>
              <a:srgbClr val="2B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63439" y="2011680"/>
            <a:ext cx="2560320" cy="640080"/>
          </a:xfrm>
          <a:prstGeom prst="roundRect">
            <a:avLst>
              <a:gd name="adj" fmla="val 15000"/>
            </a:avLst>
          </a:prstGeom>
          <a:solidFill>
            <a:srgbClr val="212840"/>
          </a:solidFill>
          <a:ln w="17780">
            <a:solidFill>
              <a:srgbClr val="E3A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0">
                <a:solidFill>
                  <a:srgbClr val="E3AC5E"/>
                </a:solidFill>
                <a:latin typeface="Consolas"/>
              </a:rPr>
              <a:t>mapping pattern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8760" y="3200400"/>
            <a:ext cx="3200400" cy="640080"/>
          </a:xfrm>
          <a:prstGeom prst="roundRect">
            <a:avLst>
              <a:gd name="adj" fmla="val 12000"/>
            </a:avLst>
          </a:prstGeom>
          <a:solidFill>
            <a:srgbClr val="2C4D54"/>
          </a:solidFill>
          <a:ln w="16510">
            <a:solidFill>
              <a:srgbClr val="52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52B8C4"/>
                </a:solidFill>
                <a:latin typeface="Consolas"/>
              </a:rPr>
              <a:t>Bridge: CONSTRUCT query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3200400"/>
            <a:ext cx="3200400" cy="640080"/>
          </a:xfrm>
          <a:prstGeom prst="roundRect">
            <a:avLst>
              <a:gd name="adj" fmla="val 12000"/>
            </a:avLst>
          </a:prstGeom>
          <a:solidFill>
            <a:srgbClr val="533029"/>
          </a:solidFill>
          <a:ln w="16510">
            <a:solidFill>
              <a:srgbClr val="E86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E8674F"/>
                </a:solidFill>
                <a:latin typeface="Consolas"/>
              </a:rPr>
              <a:t>SULO + ShEx: ShapeMap check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3063240" y="2651760"/>
            <a:ext cx="2468880" cy="548640"/>
          </a:xfrm>
          <a:prstGeom prst="line">
            <a:avLst/>
          </a:prstGeom>
          <a:ln w="16510">
            <a:solidFill>
              <a:srgbClr val="E3AC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355080" y="2651760"/>
            <a:ext cx="2423160" cy="548640"/>
          </a:xfrm>
          <a:prstGeom prst="line">
            <a:avLst/>
          </a:prstGeom>
          <a:ln w="16510">
            <a:solidFill>
              <a:srgbClr val="E3AC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51560" y="4663440"/>
            <a:ext cx="2011680" cy="640080"/>
          </a:xfrm>
          <a:prstGeom prst="roundRect">
            <a:avLst>
              <a:gd name="adj" fmla="val 12000"/>
            </a:avLst>
          </a:prstGeom>
          <a:solidFill>
            <a:srgbClr val="1A1F2C"/>
          </a:solidFill>
          <a:ln w="15240">
            <a:solidFill>
              <a:srgbClr val="52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0">
                <a:solidFill>
                  <a:srgbClr val="52B8C4"/>
                </a:solidFill>
                <a:latin typeface="Consolas"/>
              </a:rPr>
              <a:t>OMOP CDM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4663440"/>
            <a:ext cx="2011680" cy="640080"/>
          </a:xfrm>
          <a:prstGeom prst="roundRect">
            <a:avLst>
              <a:gd name="adj" fmla="val 12000"/>
            </a:avLst>
          </a:prstGeom>
          <a:solidFill>
            <a:srgbClr val="1A1F2C"/>
          </a:solidFill>
          <a:ln w="15240">
            <a:solidFill>
              <a:srgbClr val="E86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0">
                <a:solidFill>
                  <a:srgbClr val="E8674F"/>
                </a:solidFill>
                <a:latin typeface="Consolas"/>
              </a:rPr>
              <a:t>HL7 FHIR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2057400" y="3840480"/>
            <a:ext cx="457200" cy="822960"/>
          </a:xfrm>
          <a:prstGeom prst="line">
            <a:avLst/>
          </a:prstGeom>
          <a:ln w="15240">
            <a:solidFill>
              <a:srgbClr val="52B8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372600" y="3840480"/>
            <a:ext cx="548640" cy="822960"/>
          </a:xfrm>
          <a:prstGeom prst="line">
            <a:avLst/>
          </a:prstGeom>
          <a:ln w="15240">
            <a:solidFill>
              <a:srgbClr val="E867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514600" y="3840480"/>
            <a:ext cx="7406640" cy="822960"/>
          </a:xfrm>
          <a:prstGeom prst="line">
            <a:avLst/>
          </a:prstGeom>
          <a:ln w="11430">
            <a:solidFill>
              <a:srgbClr val="5B627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057400" y="3840480"/>
            <a:ext cx="7315200" cy="822960"/>
          </a:xfrm>
          <a:prstGeom prst="line">
            <a:avLst/>
          </a:prstGeom>
          <a:ln w="11430">
            <a:solidFill>
              <a:srgbClr val="5B627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51560" y="5486399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5B6278"/>
                </a:solidFill>
                <a:latin typeface="Calibri"/>
              </a:rPr>
              <a:t>Both routes are compiled from the same declared mapping pattern — nothing is hand-written twice.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3AC5E"/>
                </a:solidFill>
                <a:latin typeface="Consolas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EAEDF3"/>
                </a:solidFill>
                <a:latin typeface="Georgia"/>
              </a:rPr>
              <a:t>One pattern, two independently verifiable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3AC5E"/>
                </a:solidFill>
                <a:latin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1945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8B93A8"/>
                </a:solidFill>
                <a:latin typeface="Calibri"/>
              </a:rPr>
              <a:t>A property declares its SULO unfolding once — both paths compile from that single source.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089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3AC5E"/>
                </a:solidFill>
                <a:latin typeface="Consola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1089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8B93A8"/>
                </a:solidFill>
                <a:latin typeface="Calibri"/>
              </a:rPr>
              <a:t>The Bridge gives production-speed, pairwise ETL between OMOP and FHIR today.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233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3AC5E"/>
                </a:solidFill>
                <a:latin typeface="Consola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0233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8B93A8"/>
                </a:solidFill>
                <a:latin typeface="Calibri"/>
              </a:rPr>
              <a:t>SULO + ShEx gives a standards-checkable proof that two independently authored schemas structurally agree — not just superficially.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9377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3AC5E"/>
                </a:solidFill>
                <a:latin typeface="Consolas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9377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8B93A8"/>
                </a:solidFill>
                <a:latin typeface="Calibri"/>
              </a:rPr>
              <a:t>Real bugs — a Role IRI split, a reification-depth mismatch — were found only by the round trip, and are now fixed.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03504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B6278"/>
                </a:solidFill>
                <a:latin typeface="Consolas"/>
              </a:rPr>
              <a:t>Live in the app under Schema Mapping and ShEx Mapping.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